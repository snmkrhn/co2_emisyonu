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Lst>
  <p:sldSz cx="33413700" cy="47244000"/>
  <p:notesSz cx="6858000" cy="9144000"/>
  <p:embeddedFontLst>
    <p:embeddedFont>
      <p:font typeface="DejaVu Serif Bold" charset="1" panose="02060803050605020204"/>
      <p:regular r:id="rId8"/>
    </p:embeddedFont>
    <p:embeddedFont>
      <p:font typeface="Arimo Bold" charset="1" panose="020B0704020202020204"/>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8E77"/>
        </a:solidFill>
      </p:bgPr>
    </p:bg>
    <p:spTree>
      <p:nvGrpSpPr>
        <p:cNvPr id="1" name=""/>
        <p:cNvGrpSpPr/>
        <p:nvPr/>
      </p:nvGrpSpPr>
      <p:grpSpPr>
        <a:xfrm>
          <a:off x="0" y="0"/>
          <a:ext cx="0" cy="0"/>
          <a:chOff x="0" y="0"/>
          <a:chExt cx="0" cy="0"/>
        </a:xfrm>
      </p:grpSpPr>
      <p:sp>
        <p:nvSpPr>
          <p:cNvPr name="Freeform 2" id="2"/>
          <p:cNvSpPr/>
          <p:nvPr/>
        </p:nvSpPr>
        <p:spPr>
          <a:xfrm flipH="false" flipV="true" rot="0">
            <a:off x="-8638458" y="40342918"/>
            <a:ext cx="12608280" cy="12466437"/>
          </a:xfrm>
          <a:custGeom>
            <a:avLst/>
            <a:gdLst/>
            <a:ahLst/>
            <a:cxnLst/>
            <a:rect r="r" b="b" t="t" l="l"/>
            <a:pathLst>
              <a:path h="12466437" w="12608280">
                <a:moveTo>
                  <a:pt x="0" y="12466437"/>
                </a:moveTo>
                <a:lnTo>
                  <a:pt x="12608280" y="12466437"/>
                </a:lnTo>
                <a:lnTo>
                  <a:pt x="12608280" y="0"/>
                </a:lnTo>
                <a:lnTo>
                  <a:pt x="0" y="0"/>
                </a:lnTo>
                <a:lnTo>
                  <a:pt x="0" y="12466437"/>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29137139" y="41020307"/>
            <a:ext cx="12608280" cy="12466437"/>
          </a:xfrm>
          <a:custGeom>
            <a:avLst/>
            <a:gdLst/>
            <a:ahLst/>
            <a:cxnLst/>
            <a:rect r="r" b="b" t="t" l="l"/>
            <a:pathLst>
              <a:path h="12466437" w="12608280">
                <a:moveTo>
                  <a:pt x="12608280" y="12466436"/>
                </a:moveTo>
                <a:lnTo>
                  <a:pt x="0" y="12466436"/>
                </a:lnTo>
                <a:lnTo>
                  <a:pt x="0" y="0"/>
                </a:lnTo>
                <a:lnTo>
                  <a:pt x="12608280" y="0"/>
                </a:lnTo>
                <a:lnTo>
                  <a:pt x="12608280" y="12466436"/>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53347" y="23148490"/>
            <a:ext cx="18209629" cy="21366906"/>
          </a:xfrm>
          <a:custGeom>
            <a:avLst/>
            <a:gdLst/>
            <a:ahLst/>
            <a:cxnLst/>
            <a:rect r="r" b="b" t="t" l="l"/>
            <a:pathLst>
              <a:path h="21366906" w="18209629">
                <a:moveTo>
                  <a:pt x="0" y="0"/>
                </a:moveTo>
                <a:lnTo>
                  <a:pt x="18209629" y="0"/>
                </a:lnTo>
                <a:lnTo>
                  <a:pt x="18209629" y="21366906"/>
                </a:lnTo>
                <a:lnTo>
                  <a:pt x="0" y="21366906"/>
                </a:lnTo>
                <a:lnTo>
                  <a:pt x="0" y="0"/>
                </a:lnTo>
                <a:close/>
              </a:path>
            </a:pathLst>
          </a:custGeom>
          <a:blipFill>
            <a:blip r:embed="rId4"/>
            <a:stretch>
              <a:fillRect l="0" t="-19130" r="0" b="-8704"/>
            </a:stretch>
          </a:blipFill>
        </p:spPr>
      </p:sp>
      <p:sp>
        <p:nvSpPr>
          <p:cNvPr name="TextBox 5" id="5"/>
          <p:cNvSpPr txBox="true"/>
          <p:nvPr/>
        </p:nvSpPr>
        <p:spPr>
          <a:xfrm rot="0">
            <a:off x="596348" y="485293"/>
            <a:ext cx="32192687" cy="4165069"/>
          </a:xfrm>
          <a:prstGeom prst="rect">
            <a:avLst/>
          </a:prstGeom>
        </p:spPr>
        <p:txBody>
          <a:bodyPr anchor="t" rtlCol="false" tIns="0" lIns="0" bIns="0" rIns="0">
            <a:spAutoFit/>
          </a:bodyPr>
          <a:lstStyle/>
          <a:p>
            <a:pPr algn="ctr">
              <a:lnSpc>
                <a:spcPts val="10703"/>
              </a:lnSpc>
            </a:pPr>
            <a:r>
              <a:rPr lang="en-US" b="true" sz="10703" spc="-545">
                <a:gradFill>
                  <a:gsLst>
                    <a:gs pos="0">
                      <a:srgbClr val="000000">
                        <a:alpha val="100000"/>
                      </a:srgbClr>
                    </a:gs>
                    <a:gs pos="100000">
                      <a:srgbClr val="3533CD">
                        <a:alpha val="100000"/>
                      </a:srgbClr>
                    </a:gs>
                  </a:gsLst>
                  <a:lin ang="0"/>
                </a:gradFill>
                <a:latin typeface="DejaVu Serif Bold"/>
                <a:ea typeface="DejaVu Serif Bold"/>
                <a:cs typeface="DejaVu Serif Bold"/>
                <a:sym typeface="DejaVu Serif Bold"/>
              </a:rPr>
              <a:t>ÇEVRESEL KARBONDIOKSIT (CO₂) EMISYON ANALIZI IÇIN KUANTUM TABANLI HIBRIT ÖĞRENME MODELI</a:t>
            </a:r>
          </a:p>
        </p:txBody>
      </p:sp>
      <p:sp>
        <p:nvSpPr>
          <p:cNvPr name="TextBox 6" id="6"/>
          <p:cNvSpPr txBox="true"/>
          <p:nvPr/>
        </p:nvSpPr>
        <p:spPr>
          <a:xfrm rot="0">
            <a:off x="-9558323" y="5168541"/>
            <a:ext cx="30077696" cy="1726280"/>
          </a:xfrm>
          <a:prstGeom prst="rect">
            <a:avLst/>
          </a:prstGeom>
        </p:spPr>
        <p:txBody>
          <a:bodyPr anchor="t" rtlCol="false" tIns="0" lIns="0" bIns="0" rIns="0">
            <a:spAutoFit/>
          </a:bodyPr>
          <a:lstStyle/>
          <a:p>
            <a:pPr algn="ctr">
              <a:lnSpc>
                <a:spcPts val="13999"/>
              </a:lnSpc>
            </a:pPr>
            <a:r>
              <a:rPr lang="en-US" b="true" sz="9999">
                <a:gradFill>
                  <a:gsLst>
                    <a:gs pos="0">
                      <a:srgbClr val="5DE0E6">
                        <a:alpha val="100000"/>
                      </a:srgbClr>
                    </a:gs>
                    <a:gs pos="100000">
                      <a:srgbClr val="004AAD">
                        <a:alpha val="100000"/>
                      </a:srgbClr>
                    </a:gs>
                  </a:gsLst>
                  <a:lin ang="0"/>
                </a:gradFill>
                <a:latin typeface="DejaVu Serif Bold"/>
                <a:ea typeface="DejaVu Serif Bold"/>
                <a:cs typeface="DejaVu Serif Bold"/>
                <a:sym typeface="DejaVu Serif Bold"/>
              </a:rPr>
              <a:t>PROJE AMACI</a:t>
            </a:r>
          </a:p>
        </p:txBody>
      </p:sp>
      <p:sp>
        <p:nvSpPr>
          <p:cNvPr name="TextBox 7" id="7"/>
          <p:cNvSpPr txBox="true"/>
          <p:nvPr/>
        </p:nvSpPr>
        <p:spPr>
          <a:xfrm rot="0">
            <a:off x="-6533453" y="15237171"/>
            <a:ext cx="20379305" cy="1726280"/>
          </a:xfrm>
          <a:prstGeom prst="rect">
            <a:avLst/>
          </a:prstGeom>
        </p:spPr>
        <p:txBody>
          <a:bodyPr anchor="t" rtlCol="false" tIns="0" lIns="0" bIns="0" rIns="0">
            <a:spAutoFit/>
          </a:bodyPr>
          <a:lstStyle/>
          <a:p>
            <a:pPr algn="ctr">
              <a:lnSpc>
                <a:spcPts val="13999"/>
              </a:lnSpc>
            </a:pPr>
            <a:r>
              <a:rPr lang="en-US" b="true" sz="9999">
                <a:gradFill>
                  <a:gsLst>
                    <a:gs pos="0">
                      <a:srgbClr val="8C52FF">
                        <a:alpha val="100000"/>
                      </a:srgbClr>
                    </a:gs>
                    <a:gs pos="100000">
                      <a:srgbClr val="5CE1E6">
                        <a:alpha val="100000"/>
                      </a:srgbClr>
                    </a:gs>
                  </a:gsLst>
                  <a:lin ang="0"/>
                </a:gradFill>
                <a:latin typeface="DejaVu Serif Bold"/>
                <a:ea typeface="DejaVu Serif Bold"/>
                <a:cs typeface="DejaVu Serif Bold"/>
                <a:sym typeface="DejaVu Serif Bold"/>
              </a:rPr>
              <a:t>YÖNTEM</a:t>
            </a:r>
          </a:p>
        </p:txBody>
      </p:sp>
      <p:sp>
        <p:nvSpPr>
          <p:cNvPr name="TextBox 8" id="8"/>
          <p:cNvSpPr txBox="true"/>
          <p:nvPr/>
        </p:nvSpPr>
        <p:spPr>
          <a:xfrm rot="0">
            <a:off x="285377" y="17231380"/>
            <a:ext cx="32531976" cy="9939086"/>
          </a:xfrm>
          <a:prstGeom prst="rect">
            <a:avLst/>
          </a:prstGeom>
        </p:spPr>
        <p:txBody>
          <a:bodyPr anchor="t" rtlCol="false" tIns="0" lIns="0" bIns="0" rIns="0">
            <a:spAutoFit/>
          </a:bodyPr>
          <a:lstStyle/>
          <a:p>
            <a:pPr algn="just">
              <a:lnSpc>
                <a:spcPts val="6594"/>
              </a:lnSpc>
              <a:spcBef>
                <a:spcPct val="0"/>
              </a:spcBef>
            </a:pPr>
            <a:r>
              <a:rPr lang="en-US" b="true" sz="4710">
                <a:solidFill>
                  <a:srgbClr val="000000"/>
                </a:solidFill>
                <a:latin typeface="Arimo Bold"/>
                <a:ea typeface="Arimo Bold"/>
                <a:cs typeface="Arimo Bold"/>
                <a:sym typeface="Arimo Bold"/>
              </a:rPr>
              <a:t>Bu projede, araç kaynaklı CO₂ emisyonlarının yüksek doğrulukla tahmin edilmesi amacıyla klasik makine öğrenmesi algoritmaları ile hibrit kuantum–klasik öğrenme yaklaşımlarını bir </a:t>
            </a:r>
            <a:r>
              <a:rPr lang="en-US" b="true" sz="4710">
                <a:solidFill>
                  <a:srgbClr val="000000"/>
                </a:solidFill>
                <a:latin typeface="Arimo Bold"/>
                <a:ea typeface="Arimo Bold"/>
                <a:cs typeface="Arimo Bold"/>
                <a:sym typeface="Arimo Bold"/>
              </a:rPr>
              <a:t>araya getiren çok aşamalı ve karşılaştırmalı bir modelleme çerçevesi geliştirilmiştir. Çalışmada, Kanada Hükümeti’nin açık veri platformundan elde edilen ve yedi yıllık süreci kapsayan araç emisyon veri seti kullanılmıştır. Veri seti; motor hacmi, yakıt tüketimi, silindir sayısı, şanzıman tipi, yakıt türü ve araç sınıfı gibi emisyon üzerinde etkili çok boyutlu değişkenleri içermektedir.</a:t>
            </a:r>
          </a:p>
          <a:p>
            <a:pPr algn="l">
              <a:lnSpc>
                <a:spcPts val="6594"/>
              </a:lnSpc>
              <a:spcBef>
                <a:spcPct val="0"/>
              </a:spcBef>
            </a:pPr>
          </a:p>
          <a:p>
            <a:pPr algn="l">
              <a:lnSpc>
                <a:spcPts val="6594"/>
              </a:lnSpc>
            </a:pPr>
          </a:p>
          <a:p>
            <a:pPr algn="l">
              <a:lnSpc>
                <a:spcPts val="6594"/>
              </a:lnSpc>
              <a:spcBef>
                <a:spcPct val="0"/>
              </a:spcBef>
            </a:pPr>
          </a:p>
          <a:p>
            <a:pPr algn="l">
              <a:lnSpc>
                <a:spcPts val="6594"/>
              </a:lnSpc>
              <a:spcBef>
                <a:spcPct val="0"/>
              </a:spcBef>
            </a:pPr>
          </a:p>
          <a:p>
            <a:pPr algn="l">
              <a:lnSpc>
                <a:spcPts val="6594"/>
              </a:lnSpc>
            </a:pPr>
          </a:p>
          <a:p>
            <a:pPr algn="just">
              <a:lnSpc>
                <a:spcPts val="6594"/>
              </a:lnSpc>
              <a:spcBef>
                <a:spcPct val="0"/>
              </a:spcBef>
            </a:pPr>
          </a:p>
        </p:txBody>
      </p:sp>
      <p:sp>
        <p:nvSpPr>
          <p:cNvPr name="TextBox 9" id="9"/>
          <p:cNvSpPr txBox="true"/>
          <p:nvPr/>
        </p:nvSpPr>
        <p:spPr>
          <a:xfrm rot="0">
            <a:off x="596348" y="6981161"/>
            <a:ext cx="32221005" cy="8491306"/>
          </a:xfrm>
          <a:prstGeom prst="rect">
            <a:avLst/>
          </a:prstGeom>
        </p:spPr>
        <p:txBody>
          <a:bodyPr anchor="t" rtlCol="false" tIns="0" lIns="0" bIns="0" rIns="0">
            <a:spAutoFit/>
          </a:bodyPr>
          <a:lstStyle/>
          <a:p>
            <a:pPr algn="just">
              <a:lnSpc>
                <a:spcPts val="5818"/>
              </a:lnSpc>
            </a:pPr>
            <a:r>
              <a:rPr lang="en-US" sz="4156" b="true">
                <a:solidFill>
                  <a:srgbClr val="000000"/>
                </a:solidFill>
                <a:latin typeface="Arimo Bold"/>
                <a:ea typeface="Arimo Bold"/>
                <a:cs typeface="Arimo Bold"/>
                <a:sym typeface="Arimo Bold"/>
              </a:rPr>
              <a:t>Bu proje, araç kaynaklı CO₂ emisyonlarının tahmininde klasik makine öğrenmesi yöntemlerinin performans sınırlarını analiz etmeyi ve bu sınırları aşmak amacıyla hibrit kuantum–klasik öğrenme yaklaşımının etkinliğini değerlendirmeyi amaçlamaktadır.</a:t>
            </a:r>
          </a:p>
          <a:p>
            <a:pPr algn="just">
              <a:lnSpc>
                <a:spcPts val="5818"/>
              </a:lnSpc>
              <a:spcBef>
                <a:spcPct val="0"/>
              </a:spcBef>
            </a:pPr>
            <a:r>
              <a:rPr lang="en-US" b="true" sz="4156">
                <a:solidFill>
                  <a:srgbClr val="000000"/>
                </a:solidFill>
                <a:latin typeface="Arimo Bold"/>
                <a:ea typeface="Arimo Bold"/>
                <a:cs typeface="Arimo Bold"/>
                <a:sym typeface="Arimo Bold"/>
              </a:rPr>
              <a:t>Bu kapsamda, klasik özellik öğrenme katmanları ile Variational Quantum Circuits (VQC) entegre edilerek hibrit bir model geliştirilmiştir. Girdi verileri angle encoding yöntemi ile kuantum durumlarına aktarılmakta; RY ve RZ rotasyon kapıları ile parametrik dönüşümler uygulanmakta ve CNOT kapıları ile dolaşıklık oluşturulmaktadır. Kuantum devresinden elde edilen ölçüm çıktıları klasik katmanlara akt</a:t>
            </a:r>
            <a:r>
              <a:rPr lang="en-US" b="true" sz="4156">
                <a:solidFill>
                  <a:srgbClr val="000000"/>
                </a:solidFill>
                <a:latin typeface="Arimo Bold"/>
                <a:ea typeface="Arimo Bold"/>
                <a:cs typeface="Arimo Bold"/>
                <a:sym typeface="Arimo Bold"/>
              </a:rPr>
              <a:t>arılmakta ve model uçtan uca optimize edilmektedir.</a:t>
            </a:r>
          </a:p>
          <a:p>
            <a:pPr algn="just">
              <a:lnSpc>
                <a:spcPts val="5818"/>
              </a:lnSpc>
              <a:spcBef>
                <a:spcPct val="0"/>
              </a:spcBef>
            </a:pPr>
            <a:r>
              <a:rPr lang="en-US" b="true" sz="4156">
                <a:solidFill>
                  <a:srgbClr val="000000"/>
                </a:solidFill>
                <a:latin typeface="Arimo Bold"/>
                <a:ea typeface="Arimo Bold"/>
                <a:cs typeface="Arimo Bold"/>
                <a:sym typeface="Arimo Bold"/>
              </a:rPr>
              <a:t>Model eğitimi sırasında Mean Squared Error (MSE) kayıp fonksiyonu ve Adam optimizasyon algoritması kullanılırken, kuantum parametrelerinin güncellenmesi parameter-shift rule ile gerçekleştirilmektedir.</a:t>
            </a:r>
          </a:p>
          <a:p>
            <a:pPr algn="just">
              <a:lnSpc>
                <a:spcPts val="5818"/>
              </a:lnSpc>
              <a:spcBef>
                <a:spcPct val="0"/>
              </a:spcBef>
            </a:pPr>
            <a:r>
              <a:rPr lang="en-US" b="true" sz="4156">
                <a:solidFill>
                  <a:srgbClr val="000000"/>
                </a:solidFill>
                <a:latin typeface="Arimo Bold"/>
                <a:ea typeface="Arimo Bold"/>
                <a:cs typeface="Arimo Bold"/>
                <a:sym typeface="Arimo Bold"/>
              </a:rPr>
              <a:t>Bu çalışma, hibrit kuantum–klasik modelin tabular veri üzerinde klasik modellere kıyasla temsil kapasitesi ve genelleme performansını artırma potansiyelini, farklı devre derinlikleri ve qubit konfigürasyonları altında deneysel olarak analiz etmeyi hedeflemektedir.</a:t>
            </a:r>
          </a:p>
          <a:p>
            <a:pPr algn="just">
              <a:lnSpc>
                <a:spcPts val="3167"/>
              </a:lnSpc>
              <a:spcBef>
                <a:spcPct val="0"/>
              </a:spcBef>
            </a:pPr>
          </a:p>
        </p:txBody>
      </p:sp>
      <p:sp>
        <p:nvSpPr>
          <p:cNvPr name="TextBox 10" id="10"/>
          <p:cNvSpPr txBox="true"/>
          <p:nvPr/>
        </p:nvSpPr>
        <p:spPr>
          <a:xfrm rot="0">
            <a:off x="18640952" y="24694085"/>
            <a:ext cx="14487371" cy="20814448"/>
          </a:xfrm>
          <a:prstGeom prst="rect">
            <a:avLst/>
          </a:prstGeom>
        </p:spPr>
        <p:txBody>
          <a:bodyPr anchor="t" rtlCol="false" tIns="0" lIns="0" bIns="0" rIns="0">
            <a:spAutoFit/>
          </a:bodyPr>
          <a:lstStyle/>
          <a:p>
            <a:pPr algn="just">
              <a:lnSpc>
                <a:spcPts val="6091"/>
              </a:lnSpc>
            </a:pPr>
            <a:r>
              <a:rPr lang="en-US" sz="4350" b="true">
                <a:solidFill>
                  <a:srgbClr val="000000"/>
                </a:solidFill>
                <a:latin typeface="Arimo Bold"/>
                <a:ea typeface="Arimo Bold"/>
                <a:cs typeface="Arimo Bold"/>
                <a:sym typeface="Arimo Bold"/>
              </a:rPr>
              <a:t>Bu görsel, araç kaynaklı CO₂ emisyonlarının tahminine yönelik geliştirilen hibrit kuantum–klasik öğrenme yaklaşımının yöntemsel akışını özetlemektedir. Süreç; veri ön işleme, klasik makine öğrenmesi ile referans modelleme, hibrit kuantum–klasik model tasarımı, eğitim süreci ve model değerlendirme aşamalarından oluşmaktadır.</a:t>
            </a:r>
          </a:p>
          <a:p>
            <a:pPr algn="just">
              <a:lnSpc>
                <a:spcPts val="6091"/>
              </a:lnSpc>
              <a:spcBef>
                <a:spcPct val="0"/>
              </a:spcBef>
            </a:pPr>
            <a:r>
              <a:rPr lang="en-US" b="true" sz="4350">
                <a:solidFill>
                  <a:srgbClr val="000000"/>
                </a:solidFill>
                <a:latin typeface="Arimo Bold"/>
                <a:ea typeface="Arimo Bold"/>
                <a:cs typeface="Arimo Bold"/>
                <a:sym typeface="Arimo Bold"/>
              </a:rPr>
              <a:t>Veri ön işleme aşamasında eksik veriler giderilmiş, kategorik değişkenler sayısallaştırılmış ve tüm özellikler normalize edilmiştir. Klasik modelleme aşamasında Linear Regression, Random Forest, Gradient Boosting ve ML</a:t>
            </a:r>
            <a:r>
              <a:rPr lang="en-US" b="true" sz="4350">
                <a:solidFill>
                  <a:srgbClr val="000000"/>
                </a:solidFill>
                <a:latin typeface="Arimo Bold"/>
                <a:ea typeface="Arimo Bold"/>
                <a:cs typeface="Arimo Bold"/>
                <a:sym typeface="Arimo Bold"/>
              </a:rPr>
              <a:t>P algoritmaları kullanılarak referans performans seviyeleri belirlenmiştir.</a:t>
            </a:r>
          </a:p>
          <a:p>
            <a:pPr algn="just">
              <a:lnSpc>
                <a:spcPts val="6091"/>
              </a:lnSpc>
              <a:spcBef>
                <a:spcPct val="0"/>
              </a:spcBef>
            </a:pPr>
            <a:r>
              <a:rPr lang="en-US" b="true" sz="4350">
                <a:solidFill>
                  <a:srgbClr val="000000"/>
                </a:solidFill>
                <a:latin typeface="Arimo Bold"/>
                <a:ea typeface="Arimo Bold"/>
                <a:cs typeface="Arimo Bold"/>
                <a:sym typeface="Arimo Bold"/>
              </a:rPr>
              <a:t>Hibrit model yapısında Variational Quantum Circuits (VQC) ile klasik sinir ağları entegre edilerek angle encoding, parametrik kuantum kapıları (RY, RZ) ve dolaşıklık (CNOT) mekanizmaları kullanılmıştır. Eğitim sürecinde MSE kayıp fonksiyonu, Adam optimizasyon algoritması ve parameter-shift rule tabanlı gradyan hesaplama yöntemi uygulanmıştır.</a:t>
            </a:r>
          </a:p>
          <a:p>
            <a:pPr algn="just">
              <a:lnSpc>
                <a:spcPts val="6091"/>
              </a:lnSpc>
              <a:spcBef>
                <a:spcPct val="0"/>
              </a:spcBef>
            </a:pPr>
            <a:r>
              <a:rPr lang="en-US" b="true" sz="4350">
                <a:solidFill>
                  <a:srgbClr val="000000"/>
                </a:solidFill>
                <a:latin typeface="Arimo Bold"/>
                <a:ea typeface="Arimo Bold"/>
                <a:cs typeface="Arimo Bold"/>
                <a:sym typeface="Arimo Bold"/>
              </a:rPr>
              <a:t>Model performansı MAE ve R² metrikleri ile değerlendirilmiş; ayrıca kuantum devre derinliği, qubit sayısı ve dolaşıklık seviyelerinin etkisi analiz edilmiştir. Bu yapı, kuantum destekli öğrenmenin tabular veri üzerindeki katkısını sistematik olarak ortaya koymaktadır.</a:t>
            </a:r>
          </a:p>
          <a:p>
            <a:pPr algn="just">
              <a:lnSpc>
                <a:spcPts val="6091"/>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8E77"/>
        </a:solidFill>
      </p:bgPr>
    </p:bg>
    <p:spTree>
      <p:nvGrpSpPr>
        <p:cNvPr id="1" name=""/>
        <p:cNvGrpSpPr/>
        <p:nvPr/>
      </p:nvGrpSpPr>
      <p:grpSpPr>
        <a:xfrm>
          <a:off x="0" y="0"/>
          <a:ext cx="0" cy="0"/>
          <a:chOff x="0" y="0"/>
          <a:chExt cx="0" cy="0"/>
        </a:xfrm>
      </p:grpSpPr>
      <p:sp>
        <p:nvSpPr>
          <p:cNvPr name="Freeform 2" id="2"/>
          <p:cNvSpPr/>
          <p:nvPr/>
        </p:nvSpPr>
        <p:spPr>
          <a:xfrm flipH="false" flipV="false" rot="0">
            <a:off x="1119500" y="795808"/>
            <a:ext cx="9256816" cy="13770227"/>
          </a:xfrm>
          <a:custGeom>
            <a:avLst/>
            <a:gdLst/>
            <a:ahLst/>
            <a:cxnLst/>
            <a:rect r="r" b="b" t="t" l="l"/>
            <a:pathLst>
              <a:path h="13770227" w="9256816">
                <a:moveTo>
                  <a:pt x="0" y="0"/>
                </a:moveTo>
                <a:lnTo>
                  <a:pt x="9256816" y="0"/>
                </a:lnTo>
                <a:lnTo>
                  <a:pt x="9256816" y="13770227"/>
                </a:lnTo>
                <a:lnTo>
                  <a:pt x="0" y="13770227"/>
                </a:lnTo>
                <a:lnTo>
                  <a:pt x="0" y="0"/>
                </a:lnTo>
                <a:close/>
              </a:path>
            </a:pathLst>
          </a:custGeom>
          <a:blipFill>
            <a:blip r:embed="rId2"/>
            <a:stretch>
              <a:fillRect l="-111155" t="-106179" r="-1382" b="-8133"/>
            </a:stretch>
          </a:blipFill>
        </p:spPr>
      </p:sp>
      <p:sp>
        <p:nvSpPr>
          <p:cNvPr name="Freeform 3" id="3"/>
          <p:cNvSpPr/>
          <p:nvPr/>
        </p:nvSpPr>
        <p:spPr>
          <a:xfrm flipH="false" flipV="false" rot="0">
            <a:off x="11056281" y="1178070"/>
            <a:ext cx="20354779" cy="8087632"/>
          </a:xfrm>
          <a:custGeom>
            <a:avLst/>
            <a:gdLst/>
            <a:ahLst/>
            <a:cxnLst/>
            <a:rect r="r" b="b" t="t" l="l"/>
            <a:pathLst>
              <a:path h="8087632" w="20354779">
                <a:moveTo>
                  <a:pt x="0" y="0"/>
                </a:moveTo>
                <a:lnTo>
                  <a:pt x="20354779" y="0"/>
                </a:lnTo>
                <a:lnTo>
                  <a:pt x="20354779" y="8087633"/>
                </a:lnTo>
                <a:lnTo>
                  <a:pt x="0" y="8087633"/>
                </a:lnTo>
                <a:lnTo>
                  <a:pt x="0" y="0"/>
                </a:lnTo>
                <a:close/>
              </a:path>
            </a:pathLst>
          </a:custGeom>
          <a:blipFill>
            <a:blip r:embed="rId3"/>
            <a:stretch>
              <a:fillRect l="0" t="0" r="0" b="0"/>
            </a:stretch>
          </a:blipFill>
        </p:spPr>
      </p:sp>
      <p:sp>
        <p:nvSpPr>
          <p:cNvPr name="Freeform 4" id="4"/>
          <p:cNvSpPr/>
          <p:nvPr/>
        </p:nvSpPr>
        <p:spPr>
          <a:xfrm flipH="false" flipV="false" rot="0">
            <a:off x="3341370" y="15406750"/>
            <a:ext cx="24866357" cy="16472822"/>
          </a:xfrm>
          <a:custGeom>
            <a:avLst/>
            <a:gdLst/>
            <a:ahLst/>
            <a:cxnLst/>
            <a:rect r="r" b="b" t="t" l="l"/>
            <a:pathLst>
              <a:path h="16472822" w="24866357">
                <a:moveTo>
                  <a:pt x="0" y="0"/>
                </a:moveTo>
                <a:lnTo>
                  <a:pt x="24866357" y="0"/>
                </a:lnTo>
                <a:lnTo>
                  <a:pt x="24866357" y="16472822"/>
                </a:lnTo>
                <a:lnTo>
                  <a:pt x="0" y="16472822"/>
                </a:lnTo>
                <a:lnTo>
                  <a:pt x="0" y="0"/>
                </a:lnTo>
                <a:close/>
              </a:path>
            </a:pathLst>
          </a:custGeom>
          <a:blipFill>
            <a:blip r:embed="rId4"/>
            <a:stretch>
              <a:fillRect l="0" t="-317" r="0" b="-317"/>
            </a:stretch>
          </a:blipFill>
        </p:spPr>
      </p:sp>
      <p:sp>
        <p:nvSpPr>
          <p:cNvPr name="TextBox 5" id="5"/>
          <p:cNvSpPr txBox="true"/>
          <p:nvPr/>
        </p:nvSpPr>
        <p:spPr>
          <a:xfrm rot="0">
            <a:off x="11056281" y="9563453"/>
            <a:ext cx="21277450" cy="5068007"/>
          </a:xfrm>
          <a:prstGeom prst="rect">
            <a:avLst/>
          </a:prstGeom>
        </p:spPr>
        <p:txBody>
          <a:bodyPr anchor="t" rtlCol="false" tIns="0" lIns="0" bIns="0" rIns="0">
            <a:spAutoFit/>
          </a:bodyPr>
          <a:lstStyle/>
          <a:p>
            <a:pPr algn="just">
              <a:lnSpc>
                <a:spcPts val="5715"/>
              </a:lnSpc>
              <a:spcBef>
                <a:spcPct val="0"/>
              </a:spcBef>
            </a:pPr>
            <a:r>
              <a:rPr lang="en-US" b="true" sz="4082">
                <a:solidFill>
                  <a:srgbClr val="000000"/>
                </a:solidFill>
                <a:latin typeface="Arimo Bold"/>
                <a:ea typeface="Arimo Bold"/>
                <a:cs typeface="Arimo Bold"/>
                <a:sym typeface="Arimo Bold"/>
              </a:rPr>
              <a:t>Sol tarafta, klasik verilerin ku</a:t>
            </a:r>
            <a:r>
              <a:rPr lang="en-US" b="true" sz="4082">
                <a:solidFill>
                  <a:srgbClr val="000000"/>
                </a:solidFill>
                <a:latin typeface="Arimo Bold"/>
                <a:ea typeface="Arimo Bold"/>
                <a:cs typeface="Arimo Bold"/>
                <a:sym typeface="Arimo Bold"/>
              </a:rPr>
              <a:t>antum durumlarına kodlanmasını sağlayan açı gömme (angle embedding) ve güçlü dolaşıklık (strongly entangling) katmanlarından oluşan varyasyonel kuantum devresi gösterilmektedir. Sağ tarafta ise modelin eğitim sürecine ait öğrenme eğrisi sunulmakta olup, eğitim ve doğrulama kayıp değerlerinin epoch boyunca düzenli bir şekilde azaldığı gözlemlenmektedir. Eğrilerin birbirine yakın seyretmesi, modelin kararlı bir şekilde öğrenme gerçekleştirdiğini ve iyi bir genelleme performansı sergilediğini göstermektedir.</a:t>
            </a:r>
          </a:p>
        </p:txBody>
      </p:sp>
      <p:sp>
        <p:nvSpPr>
          <p:cNvPr name="TextBox 6" id="6"/>
          <p:cNvSpPr txBox="true"/>
          <p:nvPr/>
        </p:nvSpPr>
        <p:spPr>
          <a:xfrm rot="0">
            <a:off x="2418068" y="32612997"/>
            <a:ext cx="28577565" cy="11141484"/>
          </a:xfrm>
          <a:prstGeom prst="rect">
            <a:avLst/>
          </a:prstGeom>
        </p:spPr>
        <p:txBody>
          <a:bodyPr anchor="t" rtlCol="false" tIns="0" lIns="0" bIns="0" rIns="0">
            <a:spAutoFit/>
          </a:bodyPr>
          <a:lstStyle/>
          <a:p>
            <a:pPr algn="just">
              <a:lnSpc>
                <a:spcPts val="5905"/>
              </a:lnSpc>
              <a:spcBef>
                <a:spcPct val="0"/>
              </a:spcBef>
            </a:pPr>
            <a:r>
              <a:rPr lang="en-US" b="true" sz="4217">
                <a:solidFill>
                  <a:srgbClr val="000000"/>
                </a:solidFill>
                <a:latin typeface="Arimo Bold"/>
                <a:ea typeface="Arimo Bold"/>
                <a:cs typeface="Arimo Bold"/>
                <a:sym typeface="Arimo Bold"/>
              </a:rPr>
              <a:t>Bu çalışma, ulaşım sektöründe önemli bir çevresel problem olan araç kaynaklı CO₂ emisyonlarının daha doğru tahmin edilmesi amacıyla kuantum destekli hibrit bir öğrenme modeli önermektedir. Geleneksel makine öğrenmesi yöntemlerinin, artan veri karmaşıklığı ve doğrusal olmayan ilişkileri modellemedeki sınırlamaları göz önüne alındığında, önerilen yaklaşım klasik ve kuantum hesaplama tekniklerini bir </a:t>
            </a:r>
            <a:r>
              <a:rPr lang="en-US" b="true" sz="4217">
                <a:solidFill>
                  <a:srgbClr val="000000"/>
                </a:solidFill>
                <a:latin typeface="Arimo Bold"/>
                <a:ea typeface="Arimo Bold"/>
                <a:cs typeface="Arimo Bold"/>
                <a:sym typeface="Arimo Bold"/>
              </a:rPr>
              <a:t>araya getirerek daha güçlü bir öğrenme yapısı sunmaktadır.</a:t>
            </a:r>
          </a:p>
          <a:p>
            <a:pPr algn="just">
              <a:lnSpc>
                <a:spcPts val="5905"/>
              </a:lnSpc>
              <a:spcBef>
                <a:spcPct val="0"/>
              </a:spcBef>
            </a:pPr>
            <a:r>
              <a:rPr lang="en-US" b="true" sz="4217">
                <a:solidFill>
                  <a:srgbClr val="000000"/>
                </a:solidFill>
                <a:latin typeface="Arimo Bold"/>
                <a:ea typeface="Arimo Bold"/>
                <a:cs typeface="Arimo Bold"/>
                <a:sym typeface="Arimo Bold"/>
              </a:rPr>
              <a:t>Model, kuantum devreleri aracılığıyla veriyi daha zengin bir özellik uzayında temsil edebilmekte ve bu sayede klasik yöntemlerin yakalayamadığı karmaşık örüntüleri öğrenebilmektedir. Elde edilen sonuçlar, modelin hem yüksek doğruluk hem de güçlü genelleme performansı sergilediğini göstermektedir.</a:t>
            </a:r>
          </a:p>
          <a:p>
            <a:pPr algn="just">
              <a:lnSpc>
                <a:spcPts val="5905"/>
              </a:lnSpc>
              <a:spcBef>
                <a:spcPct val="0"/>
              </a:spcBef>
            </a:pPr>
            <a:r>
              <a:rPr lang="en-US" b="true" sz="4217">
                <a:solidFill>
                  <a:srgbClr val="000000"/>
                </a:solidFill>
                <a:latin typeface="Arimo Bold"/>
                <a:ea typeface="Arimo Bold"/>
                <a:cs typeface="Arimo Bold"/>
                <a:sym typeface="Arimo Bold"/>
              </a:rPr>
              <a:t>Önerilen sistem, yüksek maliyetli kuantum donanımlara ihtiyaç duymadan klasik bilgisayarlar üzerinde simülasyon ortamında çalıştırılabilmekte ve bu yönüyle pratik ve erişilebilir bir çözüm sunmaktadır. Sanayi uygulamaları açısından değerlendirildiğinde, model araç tasarım süreçlerinde erken aşamada emisyon tahmini yapılmasına olanak tanıyarak maliyetleri azaltmakta ve regülasyonlara uyumu kolaylaştırmaktadır.</a:t>
            </a:r>
          </a:p>
          <a:p>
            <a:pPr algn="just">
              <a:lnSpc>
                <a:spcPts val="5905"/>
              </a:lnSpc>
              <a:spcBef>
                <a:spcPct val="0"/>
              </a:spcBef>
            </a:pPr>
            <a:r>
              <a:rPr lang="en-US" b="true" sz="4217">
                <a:solidFill>
                  <a:srgbClr val="000000"/>
                </a:solidFill>
                <a:latin typeface="Arimo Bold"/>
                <a:ea typeface="Arimo Bold"/>
                <a:cs typeface="Arimo Bold"/>
                <a:sym typeface="Arimo Bold"/>
              </a:rPr>
              <a:t>Bu yönleriyle çalışma, hem akademik hem de endüstriyel açıdan yüksek etki potansiyeline sahip, sürdürülebilir ve geleceğe yönelik yenilikçi bir yaklaşım sunmaktadır.</a:t>
            </a:r>
          </a:p>
          <a:p>
            <a:pPr algn="just">
              <a:lnSpc>
                <a:spcPts val="5905"/>
              </a:lnSpc>
              <a:spcBef>
                <a:spcPct val="0"/>
              </a:spcBef>
            </a:pPr>
          </a:p>
        </p:txBody>
      </p:sp>
      <p:sp>
        <p:nvSpPr>
          <p:cNvPr name="TextBox 7" id="7"/>
          <p:cNvSpPr txBox="true"/>
          <p:nvPr/>
        </p:nvSpPr>
        <p:spPr>
          <a:xfrm rot="0">
            <a:off x="2602481" y="44026667"/>
            <a:ext cx="26344135" cy="4157952"/>
          </a:xfrm>
          <a:prstGeom prst="rect">
            <a:avLst/>
          </a:prstGeom>
        </p:spPr>
        <p:txBody>
          <a:bodyPr anchor="t" rtlCol="false" tIns="0" lIns="0" bIns="0" rIns="0">
            <a:spAutoFit/>
          </a:bodyPr>
          <a:lstStyle/>
          <a:p>
            <a:pPr algn="ctr">
              <a:lnSpc>
                <a:spcPts val="8227"/>
              </a:lnSpc>
              <a:spcBef>
                <a:spcPct val="0"/>
              </a:spcBef>
            </a:pPr>
            <a:r>
              <a:rPr lang="en-US" b="true" sz="5876">
                <a:solidFill>
                  <a:srgbClr val="000000"/>
                </a:solidFill>
                <a:latin typeface="Arimo Bold"/>
                <a:ea typeface="Arimo Bold"/>
                <a:cs typeface="Arimo Bold"/>
                <a:sym typeface="Arimo Bold"/>
              </a:rPr>
              <a:t>👩‍💻 Geliştiren: Merve Sinem K</a:t>
            </a:r>
            <a:r>
              <a:rPr lang="en-US" b="true" sz="5876">
                <a:solidFill>
                  <a:srgbClr val="000000"/>
                </a:solidFill>
                <a:latin typeface="Arimo Bold"/>
                <a:ea typeface="Arimo Bold"/>
                <a:cs typeface="Arimo Bold"/>
                <a:sym typeface="Arimo Bold"/>
              </a:rPr>
              <a:t>arahan </a:t>
            </a:r>
          </a:p>
          <a:p>
            <a:pPr algn="ctr">
              <a:lnSpc>
                <a:spcPts val="8227"/>
              </a:lnSpc>
              <a:spcBef>
                <a:spcPct val="0"/>
              </a:spcBef>
            </a:pPr>
            <a:r>
              <a:rPr lang="en-US" b="true" sz="5876">
                <a:solidFill>
                  <a:srgbClr val="000000"/>
                </a:solidFill>
                <a:latin typeface="Arimo Bold"/>
                <a:ea typeface="Arimo Bold"/>
                <a:cs typeface="Arimo Bold"/>
                <a:sym typeface="Arimo Bold"/>
              </a:rPr>
              <a:t>👨‍🏫 Danışman: Prof. Dr. Mehmet Karaköse </a:t>
            </a:r>
          </a:p>
          <a:p>
            <a:pPr algn="ctr">
              <a:lnSpc>
                <a:spcPts val="8227"/>
              </a:lnSpc>
              <a:spcBef>
                <a:spcPct val="0"/>
              </a:spcBef>
            </a:pPr>
            <a:r>
              <a:rPr lang="en-US" b="true" sz="5876">
                <a:solidFill>
                  <a:srgbClr val="000000"/>
                </a:solidFill>
                <a:latin typeface="Arimo Bold"/>
                <a:ea typeface="Arimo Bold"/>
                <a:cs typeface="Arimo Bold"/>
                <a:sym typeface="Arimo Bold"/>
              </a:rPr>
              <a:t>🏛️ Fırat Üniversitesi </a:t>
            </a:r>
          </a:p>
          <a:p>
            <a:pPr algn="ctr">
              <a:lnSpc>
                <a:spcPts val="8227"/>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DAHHC-dwiU8</dc:identifier>
  <dcterms:modified xsi:type="dcterms:W3CDTF">2011-08-01T06:04:30Z</dcterms:modified>
  <cp:revision>1</cp:revision>
  <dc:title>Çevresel Karbondioksit (CO₂) Emisyon Analizi için Kuantum Tabanlı Hibrit Öğrenme Modeli</dc:title>
</cp:coreProperties>
</file>